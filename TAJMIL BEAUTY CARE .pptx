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nsam" panose="020B0604020202020204" charset="-78"/>
      <p:regular r:id="rId19"/>
    </p:embeddedFont>
    <p:embeddedFont>
      <p:font typeface="Open Sans" panose="020B0606030504020204" pitchFamily="3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25554" y="8411557"/>
            <a:ext cx="5836892" cy="846743"/>
            <a:chOff x="0" y="0"/>
            <a:chExt cx="2801457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01457" cy="406400"/>
            </a:xfrm>
            <a:custGeom>
              <a:avLst/>
              <a:gdLst/>
              <a:ahLst/>
              <a:cxnLst/>
              <a:rect l="l" t="t" r="r" b="b"/>
              <a:pathLst>
                <a:path w="2801457" h="406400">
                  <a:moveTo>
                    <a:pt x="2598257" y="0"/>
                  </a:moveTo>
                  <a:cubicBezTo>
                    <a:pt x="2710481" y="0"/>
                    <a:pt x="2801457" y="90976"/>
                    <a:pt x="2801457" y="203200"/>
                  </a:cubicBezTo>
                  <a:cubicBezTo>
                    <a:pt x="2801457" y="315424"/>
                    <a:pt x="2710481" y="406400"/>
                    <a:pt x="25982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0145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2062446" y="8815879"/>
            <a:ext cx="6262583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-37029" y="8815879"/>
            <a:ext cx="6262583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75277" y="377784"/>
            <a:ext cx="6460168" cy="1709328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4179000" y="3022966"/>
            <a:ext cx="9930000" cy="1443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08"/>
              </a:lnSpc>
            </a:pPr>
            <a:r>
              <a:rPr lang="en-US" sz="9833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BEAUTY CARE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05361" y="4378216"/>
            <a:ext cx="11677278" cy="2243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7"/>
              </a:lnSpc>
            </a:pPr>
            <a:r>
              <a:rPr lang="en-US" sz="15232" dirty="0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IN TUNISIA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25554" y="8653498"/>
            <a:ext cx="5836892" cy="467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5"/>
              </a:lnSpc>
            </a:pPr>
            <a:r>
              <a:rPr lang="en-US" sz="3143" b="1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BY: YOSSER FHAL 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747874B6-2B96-AE67-1922-63CA99A43953}"/>
              </a:ext>
            </a:extLst>
          </p:cNvPr>
          <p:cNvSpPr/>
          <p:nvPr/>
        </p:nvSpPr>
        <p:spPr>
          <a:xfrm>
            <a:off x="12954000" y="5140191"/>
            <a:ext cx="5952263" cy="5766241"/>
          </a:xfrm>
          <a:custGeom>
            <a:avLst/>
            <a:gdLst/>
            <a:ahLst/>
            <a:cxnLst/>
            <a:rect l="l" t="t" r="r" b="b"/>
            <a:pathLst>
              <a:path w="4421669" h="4421669">
                <a:moveTo>
                  <a:pt x="0" y="0"/>
                </a:moveTo>
                <a:lnTo>
                  <a:pt x="4421669" y="0"/>
                </a:lnTo>
                <a:lnTo>
                  <a:pt x="4421669" y="4421669"/>
                </a:lnTo>
                <a:lnTo>
                  <a:pt x="0" y="44216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86350" y="2430925"/>
            <a:ext cx="8115300" cy="1114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55"/>
              </a:lnSpc>
            </a:pPr>
            <a:r>
              <a:rPr lang="en-US" sz="7526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INTRODUCTION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98735" y="4051064"/>
            <a:ext cx="15144315" cy="231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7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project combines our rich cultural heritage with modern technology to</a:t>
            </a:r>
          </a:p>
          <a:p>
            <a:pPr>
              <a:lnSpc>
                <a:spcPts val="4570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 a user-friendly platform that connects users with beauty services and products. The goal is to enhance accessibility, empower local service providers, and promote traditional beauty practices.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  <p:sp>
        <p:nvSpPr>
          <p:cNvPr id="8" name="AutoShape 8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449975"/>
            <a:ext cx="16573500" cy="1309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64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OBJECTIVES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98735" y="4060589"/>
            <a:ext cx="14890529" cy="342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2971" lvl="1" indent="-346485">
              <a:lnSpc>
                <a:spcPts val="4493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Enhancing Accessibility: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Making beauty services more available to a wider audience, including those in underserved areas.</a:t>
            </a:r>
          </a:p>
          <a:p>
            <a:pPr marL="692971" lvl="1" indent="-346485">
              <a:lnSpc>
                <a:spcPts val="4493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Empowering Local Service Providers: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Providing tools for beauty professionals to manage their offerings effectively.</a:t>
            </a:r>
          </a:p>
          <a:p>
            <a:pPr marL="692971" lvl="1" indent="-346485">
              <a:lnSpc>
                <a:spcPts val="4493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Promoting Cultural Heritage:</a:t>
            </a: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Integrating traditional beauty practices and local products into the platform to foster trust and engagement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  <p:sp>
        <p:nvSpPr>
          <p:cNvPr id="8" name="AutoShape 8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86350" y="2440450"/>
            <a:ext cx="8115300" cy="1154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API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98735" y="4060589"/>
            <a:ext cx="14890529" cy="2847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93"/>
              </a:lnSpc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TAJMIL API is a RESTful web service designed to facilitate the booking and management of beauty services. It offers functionalities such as user account management, personalized beauty recommendations, and booking services. By using a modular architecture, the API ensures flexibility and scalability, allowing it to adapt to future needs and technologies.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  <p:sp>
        <p:nvSpPr>
          <p:cNvPr id="8" name="AutoShape 8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3493371" y="3844960"/>
            <a:ext cx="11301259" cy="4350985"/>
          </a:xfrm>
          <a:custGeom>
            <a:avLst/>
            <a:gdLst/>
            <a:ahLst/>
            <a:cxnLst/>
            <a:rect l="l" t="t" r="r" b="b"/>
            <a:pathLst>
              <a:path w="11301259" h="4350985">
                <a:moveTo>
                  <a:pt x="0" y="0"/>
                </a:moveTo>
                <a:lnTo>
                  <a:pt x="11301258" y="0"/>
                </a:lnTo>
                <a:lnTo>
                  <a:pt x="11301258" y="4350984"/>
                </a:lnTo>
                <a:lnTo>
                  <a:pt x="0" y="4350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3072549" y="2252075"/>
            <a:ext cx="12172950" cy="1154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SWAGGER INTERFACE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2131940" y="3956675"/>
            <a:ext cx="14024119" cy="3821573"/>
          </a:xfrm>
          <a:custGeom>
            <a:avLst/>
            <a:gdLst/>
            <a:ahLst/>
            <a:cxnLst/>
            <a:rect l="l" t="t" r="r" b="b"/>
            <a:pathLst>
              <a:path w="14024119" h="3821573">
                <a:moveTo>
                  <a:pt x="0" y="0"/>
                </a:moveTo>
                <a:lnTo>
                  <a:pt x="14024120" y="0"/>
                </a:lnTo>
                <a:lnTo>
                  <a:pt x="14024120" y="3821573"/>
                </a:lnTo>
                <a:lnTo>
                  <a:pt x="0" y="3821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3057525" y="2252075"/>
            <a:ext cx="12172950" cy="1154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SWAGGER INTERFACE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2771998" y="4147021"/>
            <a:ext cx="12744005" cy="3440881"/>
          </a:xfrm>
          <a:custGeom>
            <a:avLst/>
            <a:gdLst/>
            <a:ahLst/>
            <a:cxnLst/>
            <a:rect l="l" t="t" r="r" b="b"/>
            <a:pathLst>
              <a:path w="12744005" h="3440881">
                <a:moveTo>
                  <a:pt x="0" y="0"/>
                </a:moveTo>
                <a:lnTo>
                  <a:pt x="12744004" y="0"/>
                </a:lnTo>
                <a:lnTo>
                  <a:pt x="12744004" y="3440881"/>
                </a:lnTo>
                <a:lnTo>
                  <a:pt x="0" y="34408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3072549" y="2252075"/>
            <a:ext cx="12172950" cy="1154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SWAGGER INTERFACE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3645771" y="3770230"/>
            <a:ext cx="11301259" cy="3093720"/>
          </a:xfrm>
          <a:custGeom>
            <a:avLst/>
            <a:gdLst/>
            <a:ahLst/>
            <a:cxnLst/>
            <a:rect l="l" t="t" r="r" b="b"/>
            <a:pathLst>
              <a:path w="11301259" h="3093720">
                <a:moveTo>
                  <a:pt x="0" y="0"/>
                </a:moveTo>
                <a:lnTo>
                  <a:pt x="11301258" y="0"/>
                </a:lnTo>
                <a:lnTo>
                  <a:pt x="11301258" y="3093720"/>
                </a:lnTo>
                <a:lnTo>
                  <a:pt x="0" y="309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3072549" y="2252075"/>
            <a:ext cx="12172950" cy="1154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SWAGGER INTERFACE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85505" y="2252075"/>
            <a:ext cx="9116990" cy="1154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98735" y="4060589"/>
            <a:ext cx="14890529" cy="342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2971" lvl="1" indent="-346485" algn="l">
              <a:lnSpc>
                <a:spcPts val="4493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began with user research to understand the needs and preferences of our target audience. </a:t>
            </a:r>
          </a:p>
          <a:p>
            <a:pPr marL="692971" lvl="1" indent="-346485" algn="l">
              <a:lnSpc>
                <a:spcPts val="4493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Next, we designed the API architecture based on RESTful principles, ensuring it was user-friendly and culturally relevant. </a:t>
            </a:r>
          </a:p>
          <a:p>
            <a:pPr marL="692971" lvl="1" indent="-346485" algn="l">
              <a:lnSpc>
                <a:spcPts val="4493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Finally, we conducted rigorous testing to validate the API’s functionality and reliability.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  <p:sp>
        <p:nvSpPr>
          <p:cNvPr id="8" name="AutoShape 8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69336" y="2442888"/>
            <a:ext cx="11349328" cy="100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50"/>
              </a:lnSpc>
            </a:pPr>
            <a:r>
              <a:rPr lang="en-US" sz="6826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DATABASE STRUCTURE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98735" y="4060589"/>
            <a:ext cx="14890529" cy="284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2971" lvl="1" indent="-346485" algn="l">
              <a:lnSpc>
                <a:spcPts val="4493"/>
              </a:lnSpc>
              <a:buAutoNum type="arabicPeriod"/>
            </a:pPr>
            <a:r>
              <a:rPr lang="en-US" sz="3209" b="1" u="sng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User Model:</a:t>
            </a:r>
            <a:r>
              <a:rPr lang="en-US" sz="320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Represents users and their booking history.</a:t>
            </a:r>
          </a:p>
          <a:p>
            <a:pPr marL="692971" lvl="1" indent="-346485" algn="l">
              <a:lnSpc>
                <a:spcPts val="4493"/>
              </a:lnSpc>
              <a:buAutoNum type="arabicPeriod"/>
            </a:pPr>
            <a:r>
              <a:rPr lang="en-US" sz="3209" b="1" u="sng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Product Model:</a:t>
            </a:r>
            <a:r>
              <a:rPr lang="en-US" sz="320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Contains information about beauty products available for booking.</a:t>
            </a:r>
          </a:p>
          <a:p>
            <a:pPr marL="692971" lvl="1" indent="-346485" algn="l">
              <a:lnSpc>
                <a:spcPts val="4493"/>
              </a:lnSpc>
              <a:buAutoNum type="arabicPeriod"/>
            </a:pPr>
            <a:r>
              <a:rPr lang="en-US" sz="3209" b="1" u="sng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Service Model:</a:t>
            </a:r>
            <a:r>
              <a:rPr lang="en-US" sz="3209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0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Represents the beauty services offered by salons.</a:t>
            </a:r>
          </a:p>
          <a:p>
            <a:pPr marL="692971" lvl="1" indent="-346485" algn="l">
              <a:lnSpc>
                <a:spcPts val="4493"/>
              </a:lnSpc>
              <a:buAutoNum type="arabicPeriod"/>
            </a:pPr>
            <a:r>
              <a:rPr lang="en-US" sz="3209" b="1" u="sng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Booking Model:</a:t>
            </a:r>
            <a:r>
              <a:rPr lang="en-US" sz="320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Tracks bookings made by users for specific services.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  <p:sp>
        <p:nvSpPr>
          <p:cNvPr id="8" name="AutoShape 8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1392" y="2205247"/>
            <a:ext cx="10605215" cy="111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55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DATABASE TABLES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3645635" y="3319840"/>
            <a:ext cx="10996730" cy="5008412"/>
          </a:xfrm>
          <a:custGeom>
            <a:avLst/>
            <a:gdLst/>
            <a:ahLst/>
            <a:cxnLst/>
            <a:rect l="l" t="t" r="r" b="b"/>
            <a:pathLst>
              <a:path w="10996730" h="5008412">
                <a:moveTo>
                  <a:pt x="0" y="0"/>
                </a:moveTo>
                <a:lnTo>
                  <a:pt x="10996730" y="0"/>
                </a:lnTo>
                <a:lnTo>
                  <a:pt x="10996730" y="5008411"/>
                </a:lnTo>
                <a:lnTo>
                  <a:pt x="0" y="5008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1392" y="2242550"/>
            <a:ext cx="10605215" cy="111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55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DATABASE TABLES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2798145" y="3536285"/>
            <a:ext cx="12691710" cy="4612825"/>
          </a:xfrm>
          <a:custGeom>
            <a:avLst/>
            <a:gdLst/>
            <a:ahLst/>
            <a:cxnLst/>
            <a:rect l="l" t="t" r="r" b="b"/>
            <a:pathLst>
              <a:path w="12691710" h="4612825">
                <a:moveTo>
                  <a:pt x="0" y="0"/>
                </a:moveTo>
                <a:lnTo>
                  <a:pt x="12691710" y="0"/>
                </a:lnTo>
                <a:lnTo>
                  <a:pt x="12691710" y="4612824"/>
                </a:lnTo>
                <a:lnTo>
                  <a:pt x="0" y="4612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1392" y="2242550"/>
            <a:ext cx="10605215" cy="111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55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DATABASE TABLES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5317778" y="3266804"/>
            <a:ext cx="7278666" cy="5211280"/>
          </a:xfrm>
          <a:custGeom>
            <a:avLst/>
            <a:gdLst/>
            <a:ahLst/>
            <a:cxnLst/>
            <a:rect l="l" t="t" r="r" b="b"/>
            <a:pathLst>
              <a:path w="7278666" h="5211280">
                <a:moveTo>
                  <a:pt x="0" y="0"/>
                </a:moveTo>
                <a:lnTo>
                  <a:pt x="7278666" y="0"/>
                </a:lnTo>
                <a:lnTo>
                  <a:pt x="7278666" y="5211281"/>
                </a:lnTo>
                <a:lnTo>
                  <a:pt x="0" y="5211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1392" y="2242550"/>
            <a:ext cx="10605215" cy="111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55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DATABASE TABLES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3413433" y="3558074"/>
            <a:ext cx="11461135" cy="4385364"/>
          </a:xfrm>
          <a:custGeom>
            <a:avLst/>
            <a:gdLst/>
            <a:ahLst/>
            <a:cxnLst/>
            <a:rect l="l" t="t" r="r" b="b"/>
            <a:pathLst>
              <a:path w="11461135" h="4385364">
                <a:moveTo>
                  <a:pt x="0" y="0"/>
                </a:moveTo>
                <a:lnTo>
                  <a:pt x="11461134" y="0"/>
                </a:lnTo>
                <a:lnTo>
                  <a:pt x="11461134" y="4385364"/>
                </a:lnTo>
                <a:lnTo>
                  <a:pt x="0" y="4385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455776"/>
            <a:ext cx="16802100" cy="1022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35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TESTING AND VALIDATION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8328251"/>
            <a:ext cx="2043849" cy="650062"/>
            <a:chOff x="0" y="0"/>
            <a:chExt cx="1277755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7755" cy="406400"/>
            </a:xfrm>
            <a:custGeom>
              <a:avLst/>
              <a:gdLst/>
              <a:ahLst/>
              <a:cxnLst/>
              <a:rect l="l" t="t" r="r" b="b"/>
              <a:pathLst>
                <a:path w="1277755" h="406400">
                  <a:moveTo>
                    <a:pt x="1074555" y="0"/>
                  </a:moveTo>
                  <a:cubicBezTo>
                    <a:pt x="1186779" y="0"/>
                    <a:pt x="1277755" y="90976"/>
                    <a:pt x="1277755" y="203200"/>
                  </a:cubicBezTo>
                  <a:cubicBezTo>
                    <a:pt x="1277755" y="315424"/>
                    <a:pt x="1186779" y="406400"/>
                    <a:pt x="1074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777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97460" y="8487610"/>
            <a:ext cx="1706330" cy="34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313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Next Page</a:t>
            </a:r>
          </a:p>
        </p:txBody>
      </p:sp>
      <p:sp>
        <p:nvSpPr>
          <p:cNvPr id="7" name="AutoShape 7"/>
          <p:cNvSpPr/>
          <p:nvPr/>
        </p:nvSpPr>
        <p:spPr>
          <a:xfrm>
            <a:off x="3072549" y="8643757"/>
            <a:ext cx="15215451" cy="9525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0" name="Group 10"/>
          <p:cNvGrpSpPr/>
          <p:nvPr/>
        </p:nvGrpSpPr>
        <p:grpSpPr>
          <a:xfrm>
            <a:off x="1064168" y="5083309"/>
            <a:ext cx="7797428" cy="1734513"/>
            <a:chOff x="0" y="0"/>
            <a:chExt cx="2053643" cy="4568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3643" cy="456826"/>
            </a:xfrm>
            <a:custGeom>
              <a:avLst/>
              <a:gdLst/>
              <a:ahLst/>
              <a:cxnLst/>
              <a:rect l="l" t="t" r="r" b="b"/>
              <a:pathLst>
                <a:path w="2053643" h="456826">
                  <a:moveTo>
                    <a:pt x="50637" y="0"/>
                  </a:moveTo>
                  <a:lnTo>
                    <a:pt x="2003006" y="0"/>
                  </a:lnTo>
                  <a:cubicBezTo>
                    <a:pt x="2016436" y="0"/>
                    <a:pt x="2029316" y="5335"/>
                    <a:pt x="2038812" y="14831"/>
                  </a:cubicBezTo>
                  <a:cubicBezTo>
                    <a:pt x="2048309" y="24327"/>
                    <a:pt x="2053643" y="37207"/>
                    <a:pt x="2053643" y="50637"/>
                  </a:cubicBezTo>
                  <a:lnTo>
                    <a:pt x="2053643" y="406189"/>
                  </a:lnTo>
                  <a:cubicBezTo>
                    <a:pt x="2053643" y="419619"/>
                    <a:pt x="2048309" y="432499"/>
                    <a:pt x="2038812" y="441995"/>
                  </a:cubicBezTo>
                  <a:cubicBezTo>
                    <a:pt x="2029316" y="451491"/>
                    <a:pt x="2016436" y="456826"/>
                    <a:pt x="2003006" y="456826"/>
                  </a:cubicBezTo>
                  <a:lnTo>
                    <a:pt x="50637" y="456826"/>
                  </a:lnTo>
                  <a:cubicBezTo>
                    <a:pt x="37207" y="456826"/>
                    <a:pt x="24327" y="451491"/>
                    <a:pt x="14831" y="441995"/>
                  </a:cubicBezTo>
                  <a:cubicBezTo>
                    <a:pt x="5335" y="432499"/>
                    <a:pt x="0" y="419619"/>
                    <a:pt x="0" y="406189"/>
                  </a:cubicBezTo>
                  <a:lnTo>
                    <a:pt x="0" y="50637"/>
                  </a:lnTo>
                  <a:cubicBezTo>
                    <a:pt x="0" y="37207"/>
                    <a:pt x="5335" y="24327"/>
                    <a:pt x="14831" y="14831"/>
                  </a:cubicBezTo>
                  <a:cubicBezTo>
                    <a:pt x="24327" y="5335"/>
                    <a:pt x="37207" y="0"/>
                    <a:pt x="506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596548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53643" cy="494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97340" y="5083309"/>
            <a:ext cx="7797428" cy="1734513"/>
            <a:chOff x="0" y="0"/>
            <a:chExt cx="2053643" cy="4568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53643" cy="456826"/>
            </a:xfrm>
            <a:custGeom>
              <a:avLst/>
              <a:gdLst/>
              <a:ahLst/>
              <a:cxnLst/>
              <a:rect l="l" t="t" r="r" b="b"/>
              <a:pathLst>
                <a:path w="2053643" h="456826">
                  <a:moveTo>
                    <a:pt x="50637" y="0"/>
                  </a:moveTo>
                  <a:lnTo>
                    <a:pt x="2003006" y="0"/>
                  </a:lnTo>
                  <a:cubicBezTo>
                    <a:pt x="2016436" y="0"/>
                    <a:pt x="2029316" y="5335"/>
                    <a:pt x="2038812" y="14831"/>
                  </a:cubicBezTo>
                  <a:cubicBezTo>
                    <a:pt x="2048309" y="24327"/>
                    <a:pt x="2053643" y="37207"/>
                    <a:pt x="2053643" y="50637"/>
                  </a:cubicBezTo>
                  <a:lnTo>
                    <a:pt x="2053643" y="406189"/>
                  </a:lnTo>
                  <a:cubicBezTo>
                    <a:pt x="2053643" y="419619"/>
                    <a:pt x="2048309" y="432499"/>
                    <a:pt x="2038812" y="441995"/>
                  </a:cubicBezTo>
                  <a:cubicBezTo>
                    <a:pt x="2029316" y="451491"/>
                    <a:pt x="2016436" y="456826"/>
                    <a:pt x="2003006" y="456826"/>
                  </a:cubicBezTo>
                  <a:lnTo>
                    <a:pt x="50637" y="456826"/>
                  </a:lnTo>
                  <a:cubicBezTo>
                    <a:pt x="37207" y="456826"/>
                    <a:pt x="24327" y="451491"/>
                    <a:pt x="14831" y="441995"/>
                  </a:cubicBezTo>
                  <a:cubicBezTo>
                    <a:pt x="5335" y="432499"/>
                    <a:pt x="0" y="419619"/>
                    <a:pt x="0" y="406189"/>
                  </a:cubicBezTo>
                  <a:lnTo>
                    <a:pt x="0" y="50637"/>
                  </a:lnTo>
                  <a:cubicBezTo>
                    <a:pt x="0" y="37207"/>
                    <a:pt x="5335" y="24327"/>
                    <a:pt x="14831" y="14831"/>
                  </a:cubicBezTo>
                  <a:cubicBezTo>
                    <a:pt x="24327" y="5335"/>
                    <a:pt x="37207" y="0"/>
                    <a:pt x="506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596548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053643" cy="494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142596" y="4527314"/>
            <a:ext cx="1111991" cy="111199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654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575769" y="4527314"/>
            <a:ext cx="1111991" cy="111199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654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564577" y="5624943"/>
            <a:ext cx="6690011" cy="82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sz="237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Ensuring data integrity in product and booking management.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49503" y="5513953"/>
            <a:ext cx="6690011" cy="82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sz="237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Assessing the overall user experience across different cultural and linguistic contexts.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5770" y="4859870"/>
            <a:ext cx="765643" cy="54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9"/>
              </a:lnSpc>
            </a:pPr>
            <a:r>
              <a:rPr lang="en-US" sz="3729">
                <a:solidFill>
                  <a:srgbClr val="E8E6E2"/>
                </a:solidFill>
                <a:latin typeface="Ansam"/>
                <a:ea typeface="Ansam"/>
                <a:cs typeface="Ansam"/>
                <a:sym typeface="Ansam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748943" y="4859870"/>
            <a:ext cx="765643" cy="54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9"/>
              </a:lnSpc>
            </a:pPr>
            <a:r>
              <a:rPr lang="en-US" sz="3729">
                <a:solidFill>
                  <a:srgbClr val="E8E6E2"/>
                </a:solidFill>
                <a:latin typeface="Ansam"/>
                <a:ea typeface="Ansam"/>
                <a:cs typeface="Ansam"/>
                <a:sym typeface="Ansam"/>
              </a:rPr>
              <a:t>02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5074" y="2337016"/>
            <a:ext cx="13585063" cy="1320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64"/>
              </a:lnSpc>
            </a:pPr>
            <a:r>
              <a:rPr lang="en-US" sz="7330" dirty="0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FUTURE DIRECTIONS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3876055"/>
            <a:ext cx="3843941" cy="3281122"/>
            <a:chOff x="0" y="0"/>
            <a:chExt cx="5125255" cy="4374829"/>
          </a:xfrm>
        </p:grpSpPr>
        <p:sp>
          <p:nvSpPr>
            <p:cNvPr id="4" name="TextBox 4"/>
            <p:cNvSpPr txBox="1"/>
            <p:nvPr/>
          </p:nvSpPr>
          <p:spPr>
            <a:xfrm>
              <a:off x="519354" y="671298"/>
              <a:ext cx="4086547" cy="3170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Expanding the product database to include a wider range of local and international beauty products.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5125255" cy="4374829"/>
              <a:chOff x="0" y="0"/>
              <a:chExt cx="1012396" cy="86416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012396" cy="864164"/>
              </a:xfrm>
              <a:custGeom>
                <a:avLst/>
                <a:gdLst/>
                <a:ahLst/>
                <a:cxnLst/>
                <a:rect l="l" t="t" r="r" b="b"/>
                <a:pathLst>
                  <a:path w="1012396" h="864164">
                    <a:moveTo>
                      <a:pt x="102717" y="0"/>
                    </a:moveTo>
                    <a:lnTo>
                      <a:pt x="909679" y="0"/>
                    </a:lnTo>
                    <a:cubicBezTo>
                      <a:pt x="966408" y="0"/>
                      <a:pt x="1012396" y="45988"/>
                      <a:pt x="1012396" y="102717"/>
                    </a:cubicBezTo>
                    <a:lnTo>
                      <a:pt x="1012396" y="761447"/>
                    </a:lnTo>
                    <a:cubicBezTo>
                      <a:pt x="1012396" y="788689"/>
                      <a:pt x="1001574" y="814816"/>
                      <a:pt x="982311" y="834079"/>
                    </a:cubicBezTo>
                    <a:cubicBezTo>
                      <a:pt x="963048" y="853342"/>
                      <a:pt x="936921" y="864164"/>
                      <a:pt x="909679" y="864164"/>
                    </a:cubicBezTo>
                    <a:lnTo>
                      <a:pt x="102717" y="864164"/>
                    </a:lnTo>
                    <a:cubicBezTo>
                      <a:pt x="45988" y="864164"/>
                      <a:pt x="0" y="818176"/>
                      <a:pt x="0" y="761447"/>
                    </a:cubicBezTo>
                    <a:lnTo>
                      <a:pt x="0" y="102717"/>
                    </a:lnTo>
                    <a:cubicBezTo>
                      <a:pt x="0" y="45988"/>
                      <a:pt x="45988" y="0"/>
                      <a:pt x="10271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596548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1012396" cy="9117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3642433" y="6727014"/>
            <a:ext cx="3843941" cy="2296336"/>
            <a:chOff x="0" y="0"/>
            <a:chExt cx="5125255" cy="3061782"/>
          </a:xfrm>
        </p:grpSpPr>
        <p:sp>
          <p:nvSpPr>
            <p:cNvPr id="9" name="TextBox 9"/>
            <p:cNvSpPr txBox="1"/>
            <p:nvPr/>
          </p:nvSpPr>
          <p:spPr>
            <a:xfrm>
              <a:off x="519354" y="671298"/>
              <a:ext cx="4086547" cy="210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Enhancing multilingual support to reach a broader audience.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0"/>
              <a:ext cx="5125255" cy="3061782"/>
              <a:chOff x="0" y="0"/>
              <a:chExt cx="1012396" cy="60479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012396" cy="604796"/>
              </a:xfrm>
              <a:custGeom>
                <a:avLst/>
                <a:gdLst/>
                <a:ahLst/>
                <a:cxnLst/>
                <a:rect l="l" t="t" r="r" b="b"/>
                <a:pathLst>
                  <a:path w="1012396" h="604796">
                    <a:moveTo>
                      <a:pt x="102717" y="0"/>
                    </a:moveTo>
                    <a:lnTo>
                      <a:pt x="909679" y="0"/>
                    </a:lnTo>
                    <a:cubicBezTo>
                      <a:pt x="966408" y="0"/>
                      <a:pt x="1012396" y="45988"/>
                      <a:pt x="1012396" y="102717"/>
                    </a:cubicBezTo>
                    <a:lnTo>
                      <a:pt x="1012396" y="502079"/>
                    </a:lnTo>
                    <a:cubicBezTo>
                      <a:pt x="1012396" y="558808"/>
                      <a:pt x="966408" y="604796"/>
                      <a:pt x="909679" y="604796"/>
                    </a:cubicBezTo>
                    <a:lnTo>
                      <a:pt x="102717" y="604796"/>
                    </a:lnTo>
                    <a:cubicBezTo>
                      <a:pt x="45988" y="604796"/>
                      <a:pt x="0" y="558808"/>
                      <a:pt x="0" y="502079"/>
                    </a:cubicBezTo>
                    <a:lnTo>
                      <a:pt x="0" y="102717"/>
                    </a:lnTo>
                    <a:cubicBezTo>
                      <a:pt x="0" y="45988"/>
                      <a:pt x="45988" y="0"/>
                      <a:pt x="10271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596548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1012396" cy="6524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9363801" y="4191149"/>
            <a:ext cx="3843941" cy="2650934"/>
            <a:chOff x="0" y="0"/>
            <a:chExt cx="5125255" cy="3534579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5125255" cy="3534579"/>
              <a:chOff x="0" y="0"/>
              <a:chExt cx="1012396" cy="69818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12396" cy="698188"/>
              </a:xfrm>
              <a:custGeom>
                <a:avLst/>
                <a:gdLst/>
                <a:ahLst/>
                <a:cxnLst/>
                <a:rect l="l" t="t" r="r" b="b"/>
                <a:pathLst>
                  <a:path w="1012396" h="698188">
                    <a:moveTo>
                      <a:pt x="102717" y="0"/>
                    </a:moveTo>
                    <a:lnTo>
                      <a:pt x="909679" y="0"/>
                    </a:lnTo>
                    <a:cubicBezTo>
                      <a:pt x="966408" y="0"/>
                      <a:pt x="1012396" y="45988"/>
                      <a:pt x="1012396" y="102717"/>
                    </a:cubicBezTo>
                    <a:lnTo>
                      <a:pt x="1012396" y="595472"/>
                    </a:lnTo>
                    <a:cubicBezTo>
                      <a:pt x="1012396" y="652201"/>
                      <a:pt x="966408" y="698188"/>
                      <a:pt x="909679" y="698188"/>
                    </a:cubicBezTo>
                    <a:lnTo>
                      <a:pt x="102717" y="698188"/>
                    </a:lnTo>
                    <a:cubicBezTo>
                      <a:pt x="45988" y="698188"/>
                      <a:pt x="0" y="652201"/>
                      <a:pt x="0" y="595472"/>
                    </a:cubicBezTo>
                    <a:lnTo>
                      <a:pt x="0" y="102717"/>
                    </a:lnTo>
                    <a:cubicBezTo>
                      <a:pt x="0" y="45988"/>
                      <a:pt x="45988" y="0"/>
                      <a:pt x="10271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596548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012396" cy="7458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20700" y="671298"/>
              <a:ext cx="4086547" cy="210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Redesigning the user interface for better navigation and user experience.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42433" y="3876055"/>
            <a:ext cx="3843941" cy="2229383"/>
            <a:chOff x="0" y="0"/>
            <a:chExt cx="5125255" cy="297251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5125255" cy="2972511"/>
              <a:chOff x="0" y="0"/>
              <a:chExt cx="1012396" cy="58716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12396" cy="587163"/>
              </a:xfrm>
              <a:custGeom>
                <a:avLst/>
                <a:gdLst/>
                <a:ahLst/>
                <a:cxnLst/>
                <a:rect l="l" t="t" r="r" b="b"/>
                <a:pathLst>
                  <a:path w="1012396" h="587163">
                    <a:moveTo>
                      <a:pt x="102717" y="0"/>
                    </a:moveTo>
                    <a:lnTo>
                      <a:pt x="909679" y="0"/>
                    </a:lnTo>
                    <a:cubicBezTo>
                      <a:pt x="966408" y="0"/>
                      <a:pt x="1012396" y="45988"/>
                      <a:pt x="1012396" y="102717"/>
                    </a:cubicBezTo>
                    <a:lnTo>
                      <a:pt x="1012396" y="484446"/>
                    </a:lnTo>
                    <a:cubicBezTo>
                      <a:pt x="1012396" y="511688"/>
                      <a:pt x="1001574" y="537814"/>
                      <a:pt x="982311" y="557078"/>
                    </a:cubicBezTo>
                    <a:cubicBezTo>
                      <a:pt x="963048" y="576341"/>
                      <a:pt x="936921" y="587163"/>
                      <a:pt x="909679" y="587163"/>
                    </a:cubicBezTo>
                    <a:lnTo>
                      <a:pt x="102717" y="587163"/>
                    </a:lnTo>
                    <a:cubicBezTo>
                      <a:pt x="45988" y="587163"/>
                      <a:pt x="0" y="541175"/>
                      <a:pt x="0" y="484446"/>
                    </a:cubicBezTo>
                    <a:lnTo>
                      <a:pt x="0" y="102717"/>
                    </a:lnTo>
                    <a:cubicBezTo>
                      <a:pt x="0" y="45988"/>
                      <a:pt x="45988" y="0"/>
                      <a:pt x="10271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596548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012396" cy="6347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524345" y="671298"/>
              <a:ext cx="4086547" cy="15699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Adding OAuth authentication to enhance security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63801" y="7222243"/>
            <a:ext cx="3843941" cy="2677457"/>
            <a:chOff x="0" y="0"/>
            <a:chExt cx="5125255" cy="3569943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5125255" cy="3569943"/>
              <a:chOff x="0" y="0"/>
              <a:chExt cx="1012396" cy="70517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12396" cy="705174"/>
              </a:xfrm>
              <a:custGeom>
                <a:avLst/>
                <a:gdLst/>
                <a:ahLst/>
                <a:cxnLst/>
                <a:rect l="l" t="t" r="r" b="b"/>
                <a:pathLst>
                  <a:path w="1012396" h="705174">
                    <a:moveTo>
                      <a:pt x="102717" y="0"/>
                    </a:moveTo>
                    <a:lnTo>
                      <a:pt x="909679" y="0"/>
                    </a:lnTo>
                    <a:cubicBezTo>
                      <a:pt x="966408" y="0"/>
                      <a:pt x="1012396" y="45988"/>
                      <a:pt x="1012396" y="102717"/>
                    </a:cubicBezTo>
                    <a:lnTo>
                      <a:pt x="1012396" y="602457"/>
                    </a:lnTo>
                    <a:cubicBezTo>
                      <a:pt x="1012396" y="659186"/>
                      <a:pt x="966408" y="705174"/>
                      <a:pt x="909679" y="705174"/>
                    </a:cubicBezTo>
                    <a:lnTo>
                      <a:pt x="102717" y="705174"/>
                    </a:lnTo>
                    <a:cubicBezTo>
                      <a:pt x="45988" y="705174"/>
                      <a:pt x="0" y="659186"/>
                      <a:pt x="0" y="602457"/>
                    </a:cubicBezTo>
                    <a:lnTo>
                      <a:pt x="0" y="102717"/>
                    </a:lnTo>
                    <a:cubicBezTo>
                      <a:pt x="0" y="45988"/>
                      <a:pt x="45988" y="0"/>
                      <a:pt x="10271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596548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012396" cy="7527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522523" y="709493"/>
              <a:ext cx="4086547" cy="210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Integrating AI algorithms to improve personalized recommendations.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9" name="Freeform 29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0" name="Group 30"/>
          <p:cNvGrpSpPr/>
          <p:nvPr/>
        </p:nvGrpSpPr>
        <p:grpSpPr>
          <a:xfrm>
            <a:off x="5196250" y="4916896"/>
            <a:ext cx="3843941" cy="3620236"/>
            <a:chOff x="0" y="0"/>
            <a:chExt cx="5125255" cy="4826982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5125255" cy="4826982"/>
              <a:chOff x="0" y="0"/>
              <a:chExt cx="1012396" cy="95347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012396" cy="953478"/>
              </a:xfrm>
              <a:custGeom>
                <a:avLst/>
                <a:gdLst/>
                <a:ahLst/>
                <a:cxnLst/>
                <a:rect l="l" t="t" r="r" b="b"/>
                <a:pathLst>
                  <a:path w="1012396" h="953478">
                    <a:moveTo>
                      <a:pt x="102717" y="0"/>
                    </a:moveTo>
                    <a:lnTo>
                      <a:pt x="909679" y="0"/>
                    </a:lnTo>
                    <a:cubicBezTo>
                      <a:pt x="966408" y="0"/>
                      <a:pt x="1012396" y="45988"/>
                      <a:pt x="1012396" y="102717"/>
                    </a:cubicBezTo>
                    <a:lnTo>
                      <a:pt x="1012396" y="850761"/>
                    </a:lnTo>
                    <a:cubicBezTo>
                      <a:pt x="1012396" y="907490"/>
                      <a:pt x="966408" y="953478"/>
                      <a:pt x="909679" y="953478"/>
                    </a:cubicBezTo>
                    <a:lnTo>
                      <a:pt x="102717" y="953478"/>
                    </a:lnTo>
                    <a:cubicBezTo>
                      <a:pt x="45988" y="953478"/>
                      <a:pt x="0" y="907490"/>
                      <a:pt x="0" y="850761"/>
                    </a:cubicBezTo>
                    <a:lnTo>
                      <a:pt x="0" y="102717"/>
                    </a:lnTo>
                    <a:cubicBezTo>
                      <a:pt x="0" y="45988"/>
                      <a:pt x="45988" y="0"/>
                      <a:pt x="10271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596548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012396" cy="10011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248985" y="804612"/>
              <a:ext cx="4629962" cy="3170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Offering loyalty programs, points, or discounts for repeat customers to encourage engagement.</a:t>
              </a:r>
            </a:p>
            <a:p>
              <a:pPr algn="ctr">
                <a:lnSpc>
                  <a:spcPts val="3219"/>
                </a:lnSpc>
              </a:pPr>
              <a:endPara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28700" y="7388964"/>
            <a:ext cx="3843941" cy="2485110"/>
            <a:chOff x="0" y="0"/>
            <a:chExt cx="5125255" cy="331348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5125255" cy="3061782"/>
              <a:chOff x="0" y="0"/>
              <a:chExt cx="1012396" cy="60479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012396" cy="604796"/>
              </a:xfrm>
              <a:custGeom>
                <a:avLst/>
                <a:gdLst/>
                <a:ahLst/>
                <a:cxnLst/>
                <a:rect l="l" t="t" r="r" b="b"/>
                <a:pathLst>
                  <a:path w="1012396" h="604796">
                    <a:moveTo>
                      <a:pt x="102717" y="0"/>
                    </a:moveTo>
                    <a:lnTo>
                      <a:pt x="909679" y="0"/>
                    </a:lnTo>
                    <a:cubicBezTo>
                      <a:pt x="966408" y="0"/>
                      <a:pt x="1012396" y="45988"/>
                      <a:pt x="1012396" y="102717"/>
                    </a:cubicBezTo>
                    <a:lnTo>
                      <a:pt x="1012396" y="502079"/>
                    </a:lnTo>
                    <a:cubicBezTo>
                      <a:pt x="1012396" y="558808"/>
                      <a:pt x="966408" y="604796"/>
                      <a:pt x="909679" y="604796"/>
                    </a:cubicBezTo>
                    <a:lnTo>
                      <a:pt x="102717" y="604796"/>
                    </a:lnTo>
                    <a:cubicBezTo>
                      <a:pt x="45988" y="604796"/>
                      <a:pt x="0" y="558808"/>
                      <a:pt x="0" y="502079"/>
                    </a:cubicBezTo>
                    <a:lnTo>
                      <a:pt x="0" y="102717"/>
                    </a:lnTo>
                    <a:cubicBezTo>
                      <a:pt x="0" y="45988"/>
                      <a:pt x="45988" y="0"/>
                      <a:pt x="10271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596548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1012396" cy="6524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336038" y="143348"/>
              <a:ext cx="4453180" cy="3170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Including educational content, Providing beauty tutorials, tips, and articles to educate users and build trust.</a:t>
              </a:r>
            </a:p>
            <a:p>
              <a:pPr algn="ctr">
                <a:lnSpc>
                  <a:spcPts val="3219"/>
                </a:lnSpc>
              </a:pPr>
              <a:endPara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58903" y="2896979"/>
            <a:ext cx="13970194" cy="2243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7"/>
              </a:lnSpc>
            </a:pPr>
            <a:r>
              <a:rPr lang="en-US" sz="15232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11644" y="4970550"/>
            <a:ext cx="13880711" cy="11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7"/>
              </a:lnSpc>
            </a:pPr>
            <a:r>
              <a:rPr lang="en-US" sz="7885">
                <a:solidFill>
                  <a:srgbClr val="545256"/>
                </a:solidFill>
                <a:latin typeface="Ansam"/>
                <a:ea typeface="Ansam"/>
                <a:cs typeface="Ansam"/>
                <a:sym typeface="Ansam"/>
              </a:rPr>
              <a:t>FOR YOUR ATTENTION</a:t>
            </a:r>
          </a:p>
        </p:txBody>
      </p:sp>
      <p:sp>
        <p:nvSpPr>
          <p:cNvPr id="4" name="AutoShape 4"/>
          <p:cNvSpPr/>
          <p:nvPr/>
        </p:nvSpPr>
        <p:spPr>
          <a:xfrm>
            <a:off x="5799862" y="1344206"/>
            <a:ext cx="12488138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321632" y="474437"/>
            <a:ext cx="5967458" cy="1739537"/>
          </a:xfrm>
          <a:custGeom>
            <a:avLst/>
            <a:gdLst/>
            <a:ahLst/>
            <a:cxnLst/>
            <a:rect l="l" t="t" r="r" b="b"/>
            <a:pathLst>
              <a:path w="5967458" h="1739537">
                <a:moveTo>
                  <a:pt x="0" y="0"/>
                </a:moveTo>
                <a:lnTo>
                  <a:pt x="5967458" y="0"/>
                </a:lnTo>
                <a:lnTo>
                  <a:pt x="5967458" y="1739538"/>
                </a:lnTo>
                <a:lnTo>
                  <a:pt x="0" y="173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6225554" y="8411557"/>
            <a:ext cx="5836892" cy="846743"/>
            <a:chOff x="0" y="0"/>
            <a:chExt cx="280145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01457" cy="406400"/>
            </a:xfrm>
            <a:custGeom>
              <a:avLst/>
              <a:gdLst/>
              <a:ahLst/>
              <a:cxnLst/>
              <a:rect l="l" t="t" r="r" b="b"/>
              <a:pathLst>
                <a:path w="2801457" h="406400">
                  <a:moveTo>
                    <a:pt x="2598257" y="0"/>
                  </a:moveTo>
                  <a:cubicBezTo>
                    <a:pt x="2710481" y="0"/>
                    <a:pt x="2801457" y="90976"/>
                    <a:pt x="2801457" y="203200"/>
                  </a:cubicBezTo>
                  <a:cubicBezTo>
                    <a:pt x="2801457" y="315424"/>
                    <a:pt x="2710481" y="406400"/>
                    <a:pt x="25982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96548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80145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12062446" y="8815879"/>
            <a:ext cx="6262583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-37029" y="8815879"/>
            <a:ext cx="6262583" cy="0"/>
          </a:xfrm>
          <a:prstGeom prst="line">
            <a:avLst/>
          </a:prstGeom>
          <a:ln w="19050" cap="flat">
            <a:solidFill>
              <a:srgbClr val="59654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12954000" y="5140191"/>
            <a:ext cx="5952263" cy="5766241"/>
          </a:xfrm>
          <a:custGeom>
            <a:avLst/>
            <a:gdLst/>
            <a:ahLst/>
            <a:cxnLst/>
            <a:rect l="l" t="t" r="r" b="b"/>
            <a:pathLst>
              <a:path w="4421669" h="4421669">
                <a:moveTo>
                  <a:pt x="0" y="0"/>
                </a:moveTo>
                <a:lnTo>
                  <a:pt x="4421669" y="0"/>
                </a:lnTo>
                <a:lnTo>
                  <a:pt x="4421669" y="4421669"/>
                </a:lnTo>
                <a:lnTo>
                  <a:pt x="0" y="44216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6225554" y="8653498"/>
            <a:ext cx="5836892" cy="467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5"/>
              </a:lnSpc>
            </a:pPr>
            <a:r>
              <a:rPr lang="en-US" sz="3143">
                <a:solidFill>
                  <a:srgbClr val="000000"/>
                </a:solidFill>
                <a:latin typeface="Ansam"/>
                <a:ea typeface="Ansam"/>
                <a:cs typeface="Ansam"/>
                <a:sym typeface="Ansam"/>
              </a:rPr>
              <a:t>BY: YOSSER FHAL 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431</Words>
  <Application>Microsoft Office PowerPoint</Application>
  <PresentationFormat>Custom</PresentationFormat>
  <Paragraphs>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Ansam</vt:lpstr>
      <vt:lpstr>Open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TAJMIL BEAUTY CARE </dc:title>
  <cp:lastModifiedBy>fhalyosser</cp:lastModifiedBy>
  <cp:revision>3</cp:revision>
  <dcterms:created xsi:type="dcterms:W3CDTF">2006-08-16T00:00:00Z</dcterms:created>
  <dcterms:modified xsi:type="dcterms:W3CDTF">2025-11-27T21:14:30Z</dcterms:modified>
  <dc:identifier>DAGcqhSSR_A</dc:identifier>
</cp:coreProperties>
</file>